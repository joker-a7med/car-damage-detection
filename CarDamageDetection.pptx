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Scratch</c:v>
                </c:pt>
              </c:strCache>
            </c:strRef>
          </c:tx>
          <c:spPr>
            <a:solidFill>
              <a:srgbClr val="FF70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F1-Score</c:v>
                  </c:pt>
                  <c:pt idx="2">
                    <c:v>Precision</c:v>
                  </c:pt>
                  <c:pt idx="3">
                    <c:v>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</c:v>
                </c:pt>
                <c:pt idx="1">
                  <c:v>63</c:v>
                </c:pt>
                <c:pt idx="2">
                  <c:v>64</c:v>
                </c:pt>
                <c:pt idx="3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Transfer Learning</c:v>
                </c:pt>
              </c:strCache>
            </c:strRef>
          </c:tx>
          <c:spPr>
            <a:solidFill>
              <a:srgbClr val="0096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F1-Score</c:v>
                  </c:pt>
                  <c:pt idx="2">
                    <c:v>Precision</c:v>
                  </c:pt>
                  <c:pt idx="3">
                    <c:v>Recall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96.7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Damage Detection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Severe vs Minor Damage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Image Processing — Final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4389120"/>
            <a:ext cx="2560320" cy="41148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389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MobileNetV2  |  96.7% Accuracy  |  AUC 1.00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car damage dataset, 1000+ images, VIA annotations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624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98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 Augmentation, 70/15/15 Split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858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CNN Scratch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33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built layer by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0584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Transfer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with 2-phase fine-tuning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402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24028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313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0" y="2624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898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AUC, Confusion 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47472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0" y="3858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4133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with REST API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 &amp; Task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206240" cy="65836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Car Damage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206240" cy="65836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Real Labeled Images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206240" cy="65836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Annotations (VIA Tool)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206240" cy="65836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Directories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74520"/>
          <a:ext cx="3749040" cy="1097280"/>
        </p:xfrm>
        <a:graphic>
          <a:graphicData uri="http://schemas.openxmlformats.org/drawingml/2006/table">
            <a:tbl>
              <a:tblPr/>
              <a:tblGrid>
                <a:gridCol w="1249680"/>
                <a:gridCol w="1249680"/>
                <a:gridCol w="1249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Scratches, dents, small dislocation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Shattered glass, major deformation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029200" y="3154680"/>
            <a:ext cx="3749040" cy="169164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Extension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208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Scratch
</a:t>
            </a:r>
            <a:pPr indent="0" marL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Dent
</a:t>
            </a:r>
            <a:pPr indent="0" marL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Dislocation
</a:t>
            </a:r>
            <a:pPr indent="0" marL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Shatter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5727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356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interpolation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4832" y="132588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1325880"/>
            <a:ext cx="15727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4356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4231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÷ 255.0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[0.0 → 1.0]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03904" y="132588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1325880"/>
            <a:ext cx="15727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14356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03904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95344" y="24231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±30°, Flip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20%, Brightness ±20%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22976" y="132588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22976" y="1325880"/>
            <a:ext cx="15727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4356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22976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14416" y="24231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 | Test 15%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42048" y="132588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325880"/>
            <a:ext cx="15727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4356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42048" y="1965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33488" y="24231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computed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handle imbalance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38528" y="29718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29718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76672" y="29718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95744" y="29718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Model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from Scratch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00200" cy="73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08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600200" cy="7315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408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ReLU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3×3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160020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408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BN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pool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1600200" cy="7315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08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ReLU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filters, 3×3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160020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408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BN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1600200" cy="7315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ReLU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filters, 3×3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3017520"/>
            <a:ext cx="160020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017520"/>
            <a:ext cx="1600200" cy="73152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Dense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units, ReLU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017520"/>
            <a:ext cx="160020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3017520"/>
            <a:ext cx="1600200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Sigmoid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→ P(Severe)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solidFill>
            <a:srgbClr val="1A2B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Val Accuracy 63.6%  |  F1 ~0.63  |  ~2.1M Trainable Parameters  |  ~45 min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Model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MobileNetV2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3429000"/>
          </a:xfrm>
          <a:prstGeom prst="rect">
            <a:avLst/>
          </a:prstGeom>
          <a:solidFill>
            <a:srgbClr val="1A2B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114800" cy="41148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Extraction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backbone (ImageNet weights)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include_top = False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 layers FROZEN (trainable = False)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 added explicitly: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GlobalAveragePooling2D()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Dense(256, activation='relu')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Dropout(0.3)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Dense(1, activation='sigmoid')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334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1e-3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4114800" cy="3429000"/>
          </a:xfrm>
          <a:prstGeom prst="rect">
            <a:avLst/>
          </a:prstGeom>
          <a:solidFill>
            <a:srgbClr val="1A2B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25880"/>
            <a:ext cx="411480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847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last 30 layers of MobileNetV2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57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learning rate: lr = 1e-5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entire model end-to-end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adapts to car damage domain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090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explicitly defined in code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drag-and-drop fine-tuning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~3.4M trainable parameters (Phase 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334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total training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18888"/>
            <a:ext cx="8412480" cy="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965960" cy="9144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280160"/>
            <a:ext cx="1965960" cy="91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3898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1965960" cy="91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898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discrimination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2801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280160"/>
            <a:ext cx="1965960" cy="914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3898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Scratch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65760" y="2880360"/>
          <a:ext cx="8412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52044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566160"/>
              </a:tblGrid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from Scratch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(MobileNetV2)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min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(~30 epochs)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(~5 epochs)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deployment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4356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700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44368" y="14356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44368" y="1700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39572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660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file (multipart/form-data)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33172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44368" y="239572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44368" y="2660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label, confidence, is_severe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3558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best_binary_model.keras (TF/Keras)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329184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44368" y="33558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4368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resize 224×224 + ÷255.0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325880"/>
            <a:ext cx="3474720" cy="3429000"/>
          </a:xfrm>
          <a:prstGeom prst="rect">
            <a:avLst/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pip install -r requirements.txt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3957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Set MODEL_PATH in flask_app.py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852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python flask_app.py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310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Open http://127.0.0.1:5000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3767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Upload car image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Get instant damage prediction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4681728"/>
            <a:ext cx="347472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4681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BONUS Deployment  |  +1 to +4 Extra Marks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3200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19786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(MobileNetV2) achieved 96.7% accuracy vs 63.6% for CNN Scratch — a 33.1% improvement.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37944"/>
            <a:ext cx="3200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3794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6537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fine-tuning (freeze → unfreeze last 30 layers) is essential for domain adaptation.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3200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5328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significantly reduces overfitting in CNN Scratch.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72968"/>
            <a:ext cx="3200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7296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2004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ensures unbiased evaluation on imbalanced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3200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404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8679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deployment provides a functional, real-world REST API for car damage classification.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Image Processing  |  Final Project  |  Faculty of CS &amp; IT  |  2024/2025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Damage Detection System</dc:title>
  <dc:subject>PptxGenJS Presentation</dc:subject>
  <dc:creator>PptxGenJS</dc:creator>
  <cp:lastModifiedBy>PptxGenJS</cp:lastModifiedBy>
  <cp:revision>1</cp:revision>
  <dcterms:created xsi:type="dcterms:W3CDTF">2026-05-14T01:25:13Z</dcterms:created>
  <dcterms:modified xsi:type="dcterms:W3CDTF">2026-05-14T01:25:13Z</dcterms:modified>
</cp:coreProperties>
</file>